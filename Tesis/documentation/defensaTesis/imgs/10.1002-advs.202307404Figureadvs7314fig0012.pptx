
<file path=[Content_Types].xml><?xml version="1.0" encoding="utf-8"?>
<Types xmlns="http://schemas.openxmlformats.org/package/2006/content-types">
  <Override PartName="/_rels/.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_rels/presentation.xml.rels" ContentType="application/vnd.openxmlformats-package.relationships+xml"/>
  <Override PartName="/ppt/media/image1.jpeg" ContentType="image/jpeg"/>
  <Override PartName="/ppt/slides/_rels/slide1.xml.rels" ContentType="application/vnd.openxmlformats-package.relationships+xml"/>
  <Override PartName="/ppt/slides/slide1.xml" ContentType="application/vnd.openxmlformats-officedocument.presentationml.slide+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slideMasters/_rels/slideMaster1.xml.rels" ContentType="application/vnd.openxmlformats-package.relationships+xml"/>
  <Override PartName="/ppt/slideMasters/slideMaster1.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9144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p:spPr>
        <p:txBody>
          <a:bodyPr lIns="0" rIns="0" tIns="0" bIns="0" anchor="ctr"/>
          <a:p>
            <a:pPr algn="ctr"/>
            <a:r>
              <a:rPr b="0" lang="en-US" sz="4400" spc="-1" strike="noStrike">
                <a:latin typeface="Arial"/>
              </a:rPr>
              <a:t>Click to move the slide</a:t>
            </a:r>
            <a:endParaRPr b="0" lang="en-US" sz="4400" spc="-1" strike="noStrike">
              <a:latin typeface="Arial"/>
            </a:endParaRPr>
          </a:p>
        </p:txBody>
      </p:sp>
      <p:sp>
        <p:nvSpPr>
          <p:cNvPr id="39" name="PlaceHolder 2"/>
          <p:cNvSpPr>
            <a:spLocks noGrp="1"/>
          </p:cNvSpPr>
          <p:nvPr>
            <p:ph type="body"/>
          </p:nvPr>
        </p:nvSpPr>
        <p:spPr>
          <a:xfrm>
            <a:off x="777240" y="4777560"/>
            <a:ext cx="6217560" cy="4525920"/>
          </a:xfrm>
          <a:prstGeom prst="rect">
            <a:avLst/>
          </a:prstGeom>
        </p:spPr>
        <p:txBody>
          <a:bodyPr lIns="0" rIns="0" tIns="0" bIns="0"/>
          <a:p>
            <a:r>
              <a:rPr b="0" lang="en-US" sz="2000" spc="-1" strike="noStrike">
                <a:latin typeface="Arial"/>
              </a:rPr>
              <a:t>Click to edit the notes format</a:t>
            </a:r>
            <a:endParaRPr b="0" lang="en-US" sz="2000" spc="-1" strike="noStrike">
              <a:latin typeface="Arial"/>
            </a:endParaRPr>
          </a:p>
        </p:txBody>
      </p:sp>
      <p:sp>
        <p:nvSpPr>
          <p:cNvPr id="40" name="PlaceHolder 3"/>
          <p:cNvSpPr>
            <a:spLocks noGrp="1"/>
          </p:cNvSpPr>
          <p:nvPr>
            <p:ph type="hdr"/>
          </p:nvPr>
        </p:nvSpPr>
        <p:spPr>
          <a:xfrm>
            <a:off x="0" y="0"/>
            <a:ext cx="3372840" cy="502560"/>
          </a:xfrm>
          <a:prstGeom prst="rect">
            <a:avLst/>
          </a:prstGeom>
        </p:spPr>
        <p:txBody>
          <a:bodyPr lIns="0" rIns="0" tIns="0" bIns="0"/>
          <a:p>
            <a:r>
              <a:rPr b="0" lang="en-US" sz="1400" spc="-1" strike="noStrike">
                <a:solidFill>
                  <a:srgbClr val="303d22"/>
                </a:solidFill>
                <a:latin typeface="Arial"/>
              </a:rPr>
              <a:t>&lt;header&gt;</a:t>
            </a:r>
            <a:endParaRPr b="0" lang="en-US" sz="1400" spc="-1" strike="noStrike">
              <a:solidFill>
                <a:srgbClr val="303d22"/>
              </a:solidFill>
              <a:latin typeface="Arial"/>
            </a:endParaRPr>
          </a:p>
        </p:txBody>
      </p:sp>
      <p:sp>
        <p:nvSpPr>
          <p:cNvPr id="41" name="PlaceHolder 4"/>
          <p:cNvSpPr>
            <a:spLocks noGrp="1"/>
          </p:cNvSpPr>
          <p:nvPr>
            <p:ph type="dt"/>
          </p:nvPr>
        </p:nvSpPr>
        <p:spPr>
          <a:xfrm>
            <a:off x="4399200" y="0"/>
            <a:ext cx="3372840" cy="502560"/>
          </a:xfrm>
          <a:prstGeom prst="rect">
            <a:avLst/>
          </a:prstGeom>
        </p:spPr>
        <p:txBody>
          <a:bodyPr lIns="0" rIns="0" tIns="0" bIns="0"/>
          <a:p>
            <a:pPr algn="r"/>
            <a:r>
              <a:rPr b="0" lang="en-US" sz="1400" spc="-1" strike="noStrike">
                <a:solidFill>
                  <a:srgbClr val="303d22"/>
                </a:solidFill>
                <a:latin typeface="Arial"/>
              </a:rPr>
              <a:t>&lt;date/time&gt;</a:t>
            </a:r>
            <a:endParaRPr b="0" lang="en-US" sz="1400" spc="-1" strike="noStrike">
              <a:solidFill>
                <a:srgbClr val="303d22"/>
              </a:solidFill>
              <a:latin typeface="Arial"/>
            </a:endParaRPr>
          </a:p>
        </p:txBody>
      </p:sp>
      <p:sp>
        <p:nvSpPr>
          <p:cNvPr id="42" name="PlaceHolder 5"/>
          <p:cNvSpPr>
            <a:spLocks noGrp="1"/>
          </p:cNvSpPr>
          <p:nvPr>
            <p:ph type="ftr"/>
          </p:nvPr>
        </p:nvSpPr>
        <p:spPr>
          <a:xfrm>
            <a:off x="0" y="9555480"/>
            <a:ext cx="3372840" cy="502560"/>
          </a:xfrm>
          <a:prstGeom prst="rect">
            <a:avLst/>
          </a:prstGeom>
        </p:spPr>
        <p:txBody>
          <a:bodyPr lIns="0" rIns="0" tIns="0" bIns="0" anchor="b"/>
          <a:p>
            <a:r>
              <a:rPr b="0" lang="en-US" sz="1400" spc="-1" strike="noStrike">
                <a:solidFill>
                  <a:srgbClr val="303d22"/>
                </a:solidFill>
                <a:latin typeface="Arial"/>
              </a:rPr>
              <a:t>&lt;footer&gt;</a:t>
            </a:r>
            <a:endParaRPr b="0" lang="en-US" sz="1400" spc="-1" strike="noStrike">
              <a:solidFill>
                <a:srgbClr val="303d22"/>
              </a:solidFill>
              <a:latin typeface="Arial"/>
            </a:endParaRPr>
          </a:p>
        </p:txBody>
      </p:sp>
      <p:sp>
        <p:nvSpPr>
          <p:cNvPr id="43" name="PlaceHolder 6"/>
          <p:cNvSpPr>
            <a:spLocks noGrp="1"/>
          </p:cNvSpPr>
          <p:nvPr>
            <p:ph type="sldNum"/>
          </p:nvPr>
        </p:nvSpPr>
        <p:spPr>
          <a:xfrm>
            <a:off x="4399200" y="9555480"/>
            <a:ext cx="3372840" cy="502560"/>
          </a:xfrm>
          <a:prstGeom prst="rect">
            <a:avLst/>
          </a:prstGeom>
        </p:spPr>
        <p:txBody>
          <a:bodyPr lIns="0" rIns="0" tIns="0" bIns="0" anchor="b"/>
          <a:p>
            <a:pPr algn="r"/>
            <a:fld id="{F98CF6BF-62E3-47F3-8243-00F145BDD47B}" type="slidenum">
              <a:rPr b="0" lang="en-US" sz="1400" spc="-1" strike="noStrike">
                <a:solidFill>
                  <a:srgbClr val="303d22"/>
                </a:solidFill>
                <a:latin typeface="Arial"/>
              </a:rPr>
              <a:t>&lt;number&gt;</a:t>
            </a:fld>
            <a:endParaRPr b="0" lang="en-US" sz="1400" spc="-1" strike="noStrike">
              <a:solidFill>
                <a:srgbClr val="303d22"/>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sldImg"/>
          </p:nvPr>
        </p:nvSpPr>
        <p:spPr>
          <a:xfrm>
            <a:off x="1587960" y="1005840"/>
            <a:ext cx="4596480" cy="3447360"/>
          </a:xfrm>
          <a:prstGeom prst="rect">
            <a:avLst/>
          </a:prstGeom>
        </p:spPr>
      </p:sp>
      <p:sp>
        <p:nvSpPr>
          <p:cNvPr id="48" name="PlaceHolder 2"/>
          <p:cNvSpPr>
            <a:spLocks noGrp="1"/>
          </p:cNvSpPr>
          <p:nvPr>
            <p:ph type="body"/>
          </p:nvPr>
        </p:nvSpPr>
        <p:spPr>
          <a:xfrm>
            <a:off x="1185120" y="4787640"/>
            <a:ext cx="5407560" cy="6516720"/>
          </a:xfrm>
          <a:prstGeom prst="rect">
            <a:avLst/>
          </a:prstGeom>
        </p:spPr>
        <p:txBody>
          <a:bodyPr lIns="0" rIns="0" tIns="0" bIns="0"/>
          <a:p>
            <a:r>
              <a:rPr b="0" lang="en-US" sz="2000" spc="-1" strike="noStrike">
                <a:latin typeface="Arial"/>
              </a:rPr>
              <a:t>Chosen examples of tough hydrogels applied in the areas of a) tissue engineering, b) soft electronics, c) shape memory materials, d) 3D printing, e) biomedical devices, and f) adhesives. Notably, the majority of the highlighted examples ultimately serve biomedical applications.</a:t>
            </a:r>
            <a:endParaRPr b="0" lang="en-US" sz="2000" spc="-1" strike="noStrike">
              <a:latin typeface="Arial"/>
            </a:endParaRPr>
          </a:p>
          <a:p>
            <a:r>
              <a:rPr b="0" lang="en-US" sz="2000" spc="-1" strike="noStrike">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endParaRPr b="0" lang="en-US"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0" y="0"/>
            <a:ext cx="144000" cy="6858000"/>
          </a:xfrm>
          <a:prstGeom prst="rect">
            <a:avLst/>
          </a:prstGeom>
          <a:solidFill>
            <a:srgbClr val="0054a6"/>
          </a:solidFill>
          <a:ln>
            <a:noFill/>
          </a:ln>
        </p:spPr>
        <p:style>
          <a:lnRef idx="0"/>
          <a:fillRef idx="0"/>
          <a:effectRef idx="0"/>
          <a:fontRef idx="minor"/>
        </p:style>
      </p:sp>
      <p:sp>
        <p:nvSpPr>
          <p:cNvPr id="1" name="CustomShape 2"/>
          <p:cNvSpPr/>
          <p:nvPr/>
        </p:nvSpPr>
        <p:spPr>
          <a:xfrm>
            <a:off x="0" y="0"/>
            <a:ext cx="144000" cy="1198440"/>
          </a:xfrm>
          <a:prstGeom prst="rect">
            <a:avLst/>
          </a:prstGeom>
          <a:solidFill>
            <a:srgbClr val="ffce34"/>
          </a:solidFill>
          <a:ln>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TextShape 1"/>
          <p:cNvSpPr txBox="1"/>
          <p:nvPr/>
        </p:nvSpPr>
        <p:spPr>
          <a:xfrm>
            <a:off x="1260000" y="152280"/>
            <a:ext cx="7200000" cy="451800"/>
          </a:xfrm>
          <a:prstGeom prst="rect">
            <a:avLst/>
          </a:prstGeom>
          <a:noFill/>
          <a:ln>
            <a:noFill/>
          </a:ln>
        </p:spPr>
        <p:txBody>
          <a:bodyPr lIns="90000" rIns="90000" tIns="46800" bIns="46800"/>
          <a:p>
            <a:r>
              <a:rPr b="0" lang="en-US" sz="1100" spc="-1" strike="noStrike">
                <a:solidFill>
                  <a:srgbClr val="000000"/>
                </a:solidFill>
                <a:latin typeface="Arial"/>
              </a:rPr>
              <a:t>Tough Hydrogels for Load‐Bearing Applications</a:t>
            </a:r>
            <a:endParaRPr b="0" lang="en-US" sz="1100" spc="-1" strike="noStrike">
              <a:solidFill>
                <a:srgbClr val="000000"/>
              </a:solidFill>
              <a:latin typeface="Arial"/>
            </a:endParaRPr>
          </a:p>
        </p:txBody>
      </p:sp>
      <p:sp>
        <p:nvSpPr>
          <p:cNvPr id="45" name="TextShape 2"/>
          <p:cNvSpPr txBox="1"/>
          <p:nvPr/>
        </p:nvSpPr>
        <p:spPr>
          <a:xfrm>
            <a:off x="360000" y="5940000"/>
            <a:ext cx="8640000" cy="451800"/>
          </a:xfrm>
          <a:prstGeom prst="rect">
            <a:avLst/>
          </a:prstGeom>
          <a:noFill/>
          <a:ln>
            <a:noFill/>
          </a:ln>
        </p:spPr>
        <p:txBody>
          <a:bodyPr lIns="90000" rIns="90000" tIns="45000" bIns="45000"/>
          <a:p>
            <a:r>
              <a:rPr b="1" lang="en-US" sz="800" spc="-1" strike="noStrike">
                <a:solidFill>
                  <a:srgbClr val="0054a6"/>
                </a:solidFill>
                <a:latin typeface="Arial"/>
              </a:rPr>
              <a:t>Advanced Science, Volume: 11, Issue: 12, First published: 15 January 2024, DOI: (10.1002/advs.202307404) </a:t>
            </a:r>
            <a:endParaRPr b="0" lang="en-US" sz="800" spc="-1" strike="noStrike">
              <a:solidFill>
                <a:srgbClr val="000000"/>
              </a:solidFill>
              <a:latin typeface="Arial"/>
            </a:endParaRPr>
          </a:p>
        </p:txBody>
      </p:sp>
      <p:pic>
        <p:nvPicPr>
          <p:cNvPr id="46" name="Main graphic" descr=""/>
          <p:cNvPicPr/>
          <p:nvPr/>
        </p:nvPicPr>
        <p:blipFill>
          <a:blip r:embed="rId1"/>
          <a:stretch/>
        </p:blipFill>
        <p:spPr>
          <a:xfrm>
            <a:off x="1422360" y="1368720"/>
            <a:ext cx="6350040" cy="2596680"/>
          </a:xfrm>
          <a:prstGeom prst="rect">
            <a:avLst/>
          </a:prstGeom>
          <a:ln>
            <a:noFill/>
          </a:ln>
        </p:spPr>
      </p:pic>
    </p:spTree>
  </p:cSld>
  <p:transition>
    <p:wipe dir="r"/>
  </p:transition>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LibreOffice/6.0.7.3$Linux_X86_64 LibreOffice_project/dc89aa7a9eabfd848af146d5086077aeed2ae4a5</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